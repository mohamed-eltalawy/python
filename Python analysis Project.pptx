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32BBF-503D-4C85-9FEC-B359ECAABD4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651818-F009-4887-A3E6-2833961DF186}">
      <dgm:prSet/>
      <dgm:spPr/>
      <dgm:t>
        <a:bodyPr/>
        <a:lstStyle/>
        <a:p>
          <a:r>
            <a:rPr lang="en-US"/>
            <a:t>In this project, I worked with transactional data from an online retail store. I have explored and analyzed the dataset to gain insights into the store's sales trends, customer behavior, and popular products.</a:t>
          </a:r>
        </a:p>
      </dgm:t>
    </dgm:pt>
    <dgm:pt modelId="{CE3B380B-4C8F-491A-91AD-8AE67005D6F0}" type="parTrans" cxnId="{B8894257-5137-4B2B-97A9-19AD594D57B8}">
      <dgm:prSet/>
      <dgm:spPr/>
      <dgm:t>
        <a:bodyPr/>
        <a:lstStyle/>
        <a:p>
          <a:endParaRPr lang="en-US"/>
        </a:p>
      </dgm:t>
    </dgm:pt>
    <dgm:pt modelId="{CECD69F4-0282-47FB-9DCE-958CF5DE534A}" type="sibTrans" cxnId="{B8894257-5137-4B2B-97A9-19AD594D57B8}">
      <dgm:prSet/>
      <dgm:spPr/>
      <dgm:t>
        <a:bodyPr/>
        <a:lstStyle/>
        <a:p>
          <a:endParaRPr lang="en-US"/>
        </a:p>
      </dgm:t>
    </dgm:pt>
    <dgm:pt modelId="{0598919A-7371-4EC8-99F3-D545A016481E}">
      <dgm:prSet/>
      <dgm:spPr/>
      <dgm:t>
        <a:bodyPr/>
        <a:lstStyle/>
        <a:p>
          <a:r>
            <a:rPr lang="en-US"/>
            <a:t>By conducting exploratory data analysis EDA, I have identified patterns, outliers, and correlations in the data, allowing me to make data-driven decisions and recommendations to optimize the store's operations and improve customer satisfaction.</a:t>
          </a:r>
        </a:p>
      </dgm:t>
    </dgm:pt>
    <dgm:pt modelId="{8F5D5AD9-B946-467E-87B2-3EC77D02F1D7}" type="parTrans" cxnId="{D50D13A5-DC38-4AEF-A0CB-6CAAC46A7A76}">
      <dgm:prSet/>
      <dgm:spPr/>
      <dgm:t>
        <a:bodyPr/>
        <a:lstStyle/>
        <a:p>
          <a:endParaRPr lang="en-US"/>
        </a:p>
      </dgm:t>
    </dgm:pt>
    <dgm:pt modelId="{1E233696-CA15-418E-8028-5F8C7DEBC5EA}" type="sibTrans" cxnId="{D50D13A5-DC38-4AEF-A0CB-6CAAC46A7A76}">
      <dgm:prSet/>
      <dgm:spPr/>
      <dgm:t>
        <a:bodyPr/>
        <a:lstStyle/>
        <a:p>
          <a:endParaRPr lang="en-US"/>
        </a:p>
      </dgm:t>
    </dgm:pt>
    <dgm:pt modelId="{ABE39380-C79D-4F99-B499-8C252D23F51F}" type="pres">
      <dgm:prSet presAssocID="{A5C32BBF-503D-4C85-9FEC-B359ECAABD45}" presName="root" presStyleCnt="0">
        <dgm:presLayoutVars>
          <dgm:dir/>
          <dgm:resizeHandles val="exact"/>
        </dgm:presLayoutVars>
      </dgm:prSet>
      <dgm:spPr/>
    </dgm:pt>
    <dgm:pt modelId="{8C1E5EB6-B66F-43C7-988A-7B8715439BFC}" type="pres">
      <dgm:prSet presAssocID="{48651818-F009-4887-A3E6-2833961DF186}" presName="compNode" presStyleCnt="0"/>
      <dgm:spPr/>
    </dgm:pt>
    <dgm:pt modelId="{2DE142A7-36B4-4DD0-8A45-0D85F09785D5}" type="pres">
      <dgm:prSet presAssocID="{48651818-F009-4887-A3E6-2833961DF18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22B6B0B-62B5-4C38-9292-536BD0771F34}" type="pres">
      <dgm:prSet presAssocID="{48651818-F009-4887-A3E6-2833961DF186}" presName="spaceRect" presStyleCnt="0"/>
      <dgm:spPr/>
    </dgm:pt>
    <dgm:pt modelId="{C1446306-6646-4862-9CE2-D08D9FEFA5A8}" type="pres">
      <dgm:prSet presAssocID="{48651818-F009-4887-A3E6-2833961DF186}" presName="textRect" presStyleLbl="revTx" presStyleIdx="0" presStyleCnt="2">
        <dgm:presLayoutVars>
          <dgm:chMax val="1"/>
          <dgm:chPref val="1"/>
        </dgm:presLayoutVars>
      </dgm:prSet>
      <dgm:spPr/>
    </dgm:pt>
    <dgm:pt modelId="{37798D9E-C817-4F15-A5BB-27AF82287C62}" type="pres">
      <dgm:prSet presAssocID="{CECD69F4-0282-47FB-9DCE-958CF5DE534A}" presName="sibTrans" presStyleCnt="0"/>
      <dgm:spPr/>
    </dgm:pt>
    <dgm:pt modelId="{6CE7AF68-0DCA-45C8-85AE-CF6581C85A12}" type="pres">
      <dgm:prSet presAssocID="{0598919A-7371-4EC8-99F3-D545A016481E}" presName="compNode" presStyleCnt="0"/>
      <dgm:spPr/>
    </dgm:pt>
    <dgm:pt modelId="{0D101233-169F-442F-AF7B-36F94DAEF896}" type="pres">
      <dgm:prSet presAssocID="{0598919A-7371-4EC8-99F3-D545A016481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F58206E-1552-454D-A8A8-986D986EA425}" type="pres">
      <dgm:prSet presAssocID="{0598919A-7371-4EC8-99F3-D545A016481E}" presName="spaceRect" presStyleCnt="0"/>
      <dgm:spPr/>
    </dgm:pt>
    <dgm:pt modelId="{801CD45D-5784-4569-B1AF-A6C206CB419E}" type="pres">
      <dgm:prSet presAssocID="{0598919A-7371-4EC8-99F3-D545A016481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8894257-5137-4B2B-97A9-19AD594D57B8}" srcId="{A5C32BBF-503D-4C85-9FEC-B359ECAABD45}" destId="{48651818-F009-4887-A3E6-2833961DF186}" srcOrd="0" destOrd="0" parTransId="{CE3B380B-4C8F-491A-91AD-8AE67005D6F0}" sibTransId="{CECD69F4-0282-47FB-9DCE-958CF5DE534A}"/>
    <dgm:cxn modelId="{BCE55B90-EA5E-4E81-ABAF-4B840DD9489A}" type="presOf" srcId="{48651818-F009-4887-A3E6-2833961DF186}" destId="{C1446306-6646-4862-9CE2-D08D9FEFA5A8}" srcOrd="0" destOrd="0" presId="urn:microsoft.com/office/officeart/2018/2/layout/IconLabelList"/>
    <dgm:cxn modelId="{D50D13A5-DC38-4AEF-A0CB-6CAAC46A7A76}" srcId="{A5C32BBF-503D-4C85-9FEC-B359ECAABD45}" destId="{0598919A-7371-4EC8-99F3-D545A016481E}" srcOrd="1" destOrd="0" parTransId="{8F5D5AD9-B946-467E-87B2-3EC77D02F1D7}" sibTransId="{1E233696-CA15-418E-8028-5F8C7DEBC5EA}"/>
    <dgm:cxn modelId="{6951CEF8-C906-463E-99BD-766AB6F5205E}" type="presOf" srcId="{0598919A-7371-4EC8-99F3-D545A016481E}" destId="{801CD45D-5784-4569-B1AF-A6C206CB419E}" srcOrd="0" destOrd="0" presId="urn:microsoft.com/office/officeart/2018/2/layout/IconLabelList"/>
    <dgm:cxn modelId="{6144FEFD-B844-436D-B172-BDDB08AB6382}" type="presOf" srcId="{A5C32BBF-503D-4C85-9FEC-B359ECAABD45}" destId="{ABE39380-C79D-4F99-B499-8C252D23F51F}" srcOrd="0" destOrd="0" presId="urn:microsoft.com/office/officeart/2018/2/layout/IconLabelList"/>
    <dgm:cxn modelId="{199E896E-894B-4B5D-8761-8DDB50FB04D4}" type="presParOf" srcId="{ABE39380-C79D-4F99-B499-8C252D23F51F}" destId="{8C1E5EB6-B66F-43C7-988A-7B8715439BFC}" srcOrd="0" destOrd="0" presId="urn:microsoft.com/office/officeart/2018/2/layout/IconLabelList"/>
    <dgm:cxn modelId="{5571BAA1-317D-4D8A-9942-89A7A3CD74DB}" type="presParOf" srcId="{8C1E5EB6-B66F-43C7-988A-7B8715439BFC}" destId="{2DE142A7-36B4-4DD0-8A45-0D85F09785D5}" srcOrd="0" destOrd="0" presId="urn:microsoft.com/office/officeart/2018/2/layout/IconLabelList"/>
    <dgm:cxn modelId="{B8799032-C8D4-46C5-8960-B2F6B2DEA989}" type="presParOf" srcId="{8C1E5EB6-B66F-43C7-988A-7B8715439BFC}" destId="{922B6B0B-62B5-4C38-9292-536BD0771F34}" srcOrd="1" destOrd="0" presId="urn:microsoft.com/office/officeart/2018/2/layout/IconLabelList"/>
    <dgm:cxn modelId="{97DD2561-F2CF-405B-B30E-3ACA4ABD828B}" type="presParOf" srcId="{8C1E5EB6-B66F-43C7-988A-7B8715439BFC}" destId="{C1446306-6646-4862-9CE2-D08D9FEFA5A8}" srcOrd="2" destOrd="0" presId="urn:microsoft.com/office/officeart/2018/2/layout/IconLabelList"/>
    <dgm:cxn modelId="{837D9AC1-206D-4299-BE7C-215CFBA23BD4}" type="presParOf" srcId="{ABE39380-C79D-4F99-B499-8C252D23F51F}" destId="{37798D9E-C817-4F15-A5BB-27AF82287C62}" srcOrd="1" destOrd="0" presId="urn:microsoft.com/office/officeart/2018/2/layout/IconLabelList"/>
    <dgm:cxn modelId="{FF8EAE1C-00E6-4E78-9828-4372020FADA7}" type="presParOf" srcId="{ABE39380-C79D-4F99-B499-8C252D23F51F}" destId="{6CE7AF68-0DCA-45C8-85AE-CF6581C85A12}" srcOrd="2" destOrd="0" presId="urn:microsoft.com/office/officeart/2018/2/layout/IconLabelList"/>
    <dgm:cxn modelId="{471CB7E0-5128-490F-B5B8-DE8E2711EA3E}" type="presParOf" srcId="{6CE7AF68-0DCA-45C8-85AE-CF6581C85A12}" destId="{0D101233-169F-442F-AF7B-36F94DAEF896}" srcOrd="0" destOrd="0" presId="urn:microsoft.com/office/officeart/2018/2/layout/IconLabelList"/>
    <dgm:cxn modelId="{169ADDFA-8539-4F4C-B129-AEE8FD28839C}" type="presParOf" srcId="{6CE7AF68-0DCA-45C8-85AE-CF6581C85A12}" destId="{AF58206E-1552-454D-A8A8-986D986EA425}" srcOrd="1" destOrd="0" presId="urn:microsoft.com/office/officeart/2018/2/layout/IconLabelList"/>
    <dgm:cxn modelId="{8C0A61C9-41C9-42EB-836A-B44D93E8C7CD}" type="presParOf" srcId="{6CE7AF68-0DCA-45C8-85AE-CF6581C85A12}" destId="{801CD45D-5784-4569-B1AF-A6C206CB419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E142A7-36B4-4DD0-8A45-0D85F09785D5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46306-6646-4862-9CE2-D08D9FEFA5A8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 this project, I worked with transactional data from an online retail store. I have explored and analyzed the dataset to gain insights into the store's sales trends, customer behavior, and popular products.</a:t>
          </a:r>
        </a:p>
      </dsp:txBody>
      <dsp:txXfrm>
        <a:off x="765914" y="2943510"/>
        <a:ext cx="4320000" cy="720000"/>
      </dsp:txXfrm>
    </dsp:sp>
    <dsp:sp modelId="{0D101233-169F-442F-AF7B-36F94DAEF896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CD45D-5784-4569-B1AF-A6C206CB419E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By conducting exploratory data analysis EDA, I have identified patterns, outliers, and correlations in the data, allowing me to make data-driven decisions and recommendations to optimize the store's operations and improve customer satisfaction.</a:t>
          </a:r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4A59-2CBE-29D2-C4CC-EB3D2494C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9E334-BD63-6A34-EF1B-8EE1844C4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63EC1-653F-0928-5E37-D6B06704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16B6C-2935-924C-C5F3-16345BA7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08433-054E-F81B-E9E6-E5FAD878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9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9B8D-47B8-B26E-6C18-0C3D63B3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676EC-3ACE-62AC-7430-5BB9AA6EA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8DECE-14A4-6B6D-8DB5-126FF6A9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083B0-4E5A-4FDC-B0C7-5955D9C0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EF9FB-BF6E-EF2C-E4D0-EB91E618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3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9AA2-7C37-48B8-A789-8815BCB5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A84BC-2C58-B075-2432-61436743D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D2157-F8AF-6510-AC1C-D1AC8E97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065B5-51DA-30EC-2EAF-AD5F450E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04020-F355-B3DD-F59B-F105453B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2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16BC-0A7E-DAAC-6013-EC554B4F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F1807-1AE5-4340-F292-715494357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5B20C-E270-2298-5FE8-AFF4FC753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39F68-0B85-C5AC-F54F-AF81B681B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F9193-69FF-C404-1A4E-C0F62187A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CA52B-965A-A173-0351-59DFFF49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79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19D2-DAD2-A3FF-C864-7A025AD5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6BA61-36B4-6459-45B8-2D58708C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D929B-88DD-A5D1-14DE-2836E5251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E7AA2-AD67-A4E8-7C89-5E08E8313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76153-3CAF-88D5-31CC-916A61C192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4BBA-6169-C2FC-EB53-62C31E9F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B3E37C-E1E0-5318-B20C-A7BF4F757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97B65-0F35-8E12-0E92-349792C1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77E3-E493-E97C-EE0C-FAF8F460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D5F2F-8B5B-3168-5F7C-714D82B3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DED2E-6972-F82D-CFCB-8C1E4A1A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83DDA-FB66-027F-DE90-D1800F92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C0ECC-D25F-3DB8-8E26-68B4BE813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B4940-6CBD-E3AB-CFA5-310E6E27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E008B-FC30-6330-F0D0-A558B937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7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CDF9-2515-EBB0-BD85-C81A6C01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CA3B6-3BE9-E4B7-CAD3-7510B3B5E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870FA-B729-FCEE-1578-3486BCB7C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C921B-2CC3-1EB9-3646-F6923A0C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17A14-6E9C-70E4-2F89-EF4D7865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83788-58C6-D918-AC61-5D3B5A27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6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CA96-F7FE-4F08-127B-CBA27229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3662A-CF6F-E163-F329-8449E25A2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1882B-350D-6250-6543-1D6F8F86A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7D57B-5712-35E2-CCAF-7E0A4114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99650-6670-4ED4-C9DE-D8D87C1A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B27B2-8DEF-495A-03B3-FC733885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7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CEB1-91FA-DA7E-69F2-FD54D064C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3521A-A814-E527-E352-60692E8FD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58585-A678-CF0D-EE28-AB1D5292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A690F-7F20-BC92-3535-C5C2437B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3E374-1253-AF24-A989-BA95C08C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24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5CBE88-C89D-79C7-A803-4A98A8216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D2D06-B158-404C-444E-4A4CF7E5B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74D55-24E6-0D5A-BE6F-35AB0EE9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F9496-C0C9-E8B7-DE49-0DA6738B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62318-BF7F-036A-3182-E388F274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0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B79ED1-0E75-8293-0F1B-77D86A17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C408D-ADF1-6A80-82FE-B1E45A107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01D53-9C4A-7764-F84C-51B09F9EF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D5FEF-EE40-4F05-993E-0EC7B0B9AC1C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D9CD-0F8C-47AA-F06A-D9D2A102C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C15EE-60E2-CC01-534B-DE69F7160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15E46-9314-47C4-AB2B-FFA215AEF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44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3E9ED-F036-D023-2C50-4C638E69C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700">
                <a:solidFill>
                  <a:schemeClr val="tx2"/>
                </a:solidFill>
              </a:rPr>
              <a:t>Python analysis Project</a:t>
            </a:r>
            <a:br>
              <a:rPr lang="en-US" sz="3700">
                <a:solidFill>
                  <a:schemeClr val="tx2"/>
                </a:solidFill>
              </a:rPr>
            </a:br>
            <a:endParaRPr lang="en-US" sz="3700">
              <a:solidFill>
                <a:schemeClr val="tx2"/>
              </a:solidFill>
            </a:endParaRPr>
          </a:p>
        </p:txBody>
      </p:sp>
      <p:pic>
        <p:nvPicPr>
          <p:cNvPr id="6" name="Graphic 5" descr="Head with Gears">
            <a:extLst>
              <a:ext uri="{FF2B5EF4-FFF2-40B4-BE49-F238E27FC236}">
                <a16:creationId xmlns:a16="http://schemas.microsoft.com/office/drawing/2014/main" id="{DE313DEC-6990-52F7-BD64-20C929105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3420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46C5E-FD41-5DBC-4314-88DE92AF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Project Scenario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485D86-FA10-626A-21DA-187AC4C6AD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55310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514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C01F6-63E1-EE6F-3345-5C0CB3866490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1. Load the dataset - display the first 7 rows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FFA904-D627-61E5-F412-1F4D3E17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691473"/>
            <a:ext cx="11327549" cy="30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7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1AC2B-AA70-18D6-3AFF-5D714A52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Adding total price column for each invoice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B22229-9C11-4739-FAA2-DAA37BBE8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2029012"/>
            <a:ext cx="7225748" cy="279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9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E8EE9-56A1-3330-2749-1C7F40276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Customer Distribution &amp; Country-wise Sales</a:t>
            </a:r>
            <a:endParaRPr lang="en-US" sz="28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C524BC-01BA-2EB3-9963-FF0F115B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70" y="2181426"/>
            <a:ext cx="4661966" cy="399763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9CF958-564D-8858-35F8-3BF224321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4608450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0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02BE2-59AE-E565-678F-EC972993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sum of quantity sold for each product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EB69DA-93AE-999A-40B2-E8CD60765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7446" y="467208"/>
            <a:ext cx="665571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1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ACF9E-14A4-0A61-9EF8-FE314147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histogram to showcase the distribution of the number of purchases made by each customer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B7DFD6-2168-D820-E805-6C9BBD80C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331985"/>
            <a:ext cx="10905066" cy="308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5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DFCB6-DEC5-2F5C-B16B-303B2144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Top 10 Customers by Total Spending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83DC4F-45D4-8266-BFA1-B4E0D2D6E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95783"/>
            <a:ext cx="10905066" cy="395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8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B9E4B-E5A5-36B9-A2BB-D6DD2A18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Sales Over Time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424405D-371E-2887-864B-6A6ED3EFD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841" y="2354239"/>
            <a:ext cx="9160350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7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C68A6-A284-DF8D-BD8F-F1E633A6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Creating a bar chart to visualize the total sales quantity for each country.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02171E-154E-820A-6158-711B43154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8036" y="2354239"/>
            <a:ext cx="797592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0F6DD-1227-E377-CD04-5279CE902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 Price Distribution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0C57A4-0D46-9EE3-D46F-56D94D796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1969341"/>
            <a:ext cx="11327549" cy="44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12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8D8BB-0E69-A099-0C2B-2DDE2CEFE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10 Best-Selling Products</a:t>
            </a:r>
            <a:b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874109-81F3-9D15-C6F7-8E9DF22BD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754" y="2354239"/>
            <a:ext cx="9456492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13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F7A28-3840-65AC-4D96-6D8F35833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Sales Quantity per Month</a:t>
            </a:r>
            <a:b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0BDFAB-F453-6389-9A7E-6F8B44D59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163" y="1966293"/>
            <a:ext cx="1047567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79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D3F5C-D029-8217-C57F-0FE6B110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Sales Quantity per Day of the Week</a:t>
            </a:r>
            <a:b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509F4C-73B0-60A4-BC15-5B4AD383A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309168"/>
            <a:ext cx="11327549" cy="376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6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0FCD9-E79D-21CF-19FD-D2EFA330F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  <a:b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7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69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178</Words>
  <Application>Microsoft Office PowerPoint</Application>
  <PresentationFormat>Widescreen</PresentationFormat>
  <Paragraphs>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Python analysis Project </vt:lpstr>
      <vt:lpstr>Project Scenario </vt:lpstr>
      <vt:lpstr>PowerPoint Presentation</vt:lpstr>
      <vt:lpstr>Adding total price column for each invoice </vt:lpstr>
      <vt:lpstr>Customer Distribution &amp; Country-wise Sales</vt:lpstr>
      <vt:lpstr>The sum of quantity sold for each product</vt:lpstr>
      <vt:lpstr>Creating a histogram to showcase the distribution of the number of purchases made by each customer </vt:lpstr>
      <vt:lpstr>Top 10 Customers by Total Spending</vt:lpstr>
      <vt:lpstr>Sales Over Time</vt:lpstr>
      <vt:lpstr>Creating a bar chart to visualize the total sales quantity for each country.</vt:lpstr>
      <vt:lpstr>Product Price Distribution</vt:lpstr>
      <vt:lpstr>Top 10 Best-Selling Products </vt:lpstr>
      <vt:lpstr>Total Sales Quantity per Month </vt:lpstr>
      <vt:lpstr>Total Sales Quantity per Day of the Week 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Eltalawy</dc:creator>
  <cp:lastModifiedBy>Mohamed Eltalawy</cp:lastModifiedBy>
  <cp:revision>3</cp:revision>
  <dcterms:created xsi:type="dcterms:W3CDTF">2025-07-19T10:35:55Z</dcterms:created>
  <dcterms:modified xsi:type="dcterms:W3CDTF">2025-07-19T11:12:15Z</dcterms:modified>
</cp:coreProperties>
</file>